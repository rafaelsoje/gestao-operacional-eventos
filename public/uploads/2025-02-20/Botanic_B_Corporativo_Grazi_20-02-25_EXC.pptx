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slideLayouts/slideLayout8.xml" ContentType="application/vnd.openxmlformats-officedocument.presentationml.slideLayout+xml"/>
  <Override PartName="/ppt/theme/theme8.xml" ContentType="application/vnd.openxmlformats-officedocument.theme+xml"/>
  <Override PartName="/ppt/slideLayouts/slideLayout9.xml" ContentType="application/vnd.openxmlformats-officedocument.presentationml.slideLayout+xml"/>
  <Override PartName="/ppt/theme/theme9.xml" ContentType="application/vnd.openxmlformats-officedocument.theme+xml"/>
  <Override PartName="/ppt/slideLayouts/slideLayout10.xml" ContentType="application/vnd.openxmlformats-officedocument.presentationml.slideLayout+xml"/>
  <Override PartName="/ppt/theme/theme10.xml" ContentType="application/vnd.openxmlformats-officedocument.theme+xml"/>
  <Override PartName="/ppt/slideLayouts/slideLayout11.xml" ContentType="application/vnd.openxmlformats-officedocument.presentationml.slideLayout+xml"/>
  <Override PartName="/ppt/theme/theme11.xml" ContentType="application/vnd.openxmlformats-officedocument.theme+xml"/>
  <Override PartName="/ppt/slideLayouts/slideLayout12.xml" ContentType="application/vnd.openxmlformats-officedocument.presentationml.slideLayout+xml"/>
  <Override PartName="/ppt/theme/theme12.xml" ContentType="application/vnd.openxmlformats-officedocument.theme+xml"/>
  <Override PartName="/ppt/theme/theme1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  <p:sldMasterId id="2147483661" r:id="rId2"/>
    <p:sldMasterId id="2147483662" r:id="rId3"/>
    <p:sldMasterId id="2147483663" r:id="rId4"/>
    <p:sldMasterId id="2147483664" r:id="rId5"/>
    <p:sldMasterId id="2147483665" r:id="rId6"/>
    <p:sldMasterId id="2147483666" r:id="rId7"/>
    <p:sldMasterId id="2147483667" r:id="rId8"/>
    <p:sldMasterId id="2147483668" r:id="rId9"/>
    <p:sldMasterId id="2147483669" r:id="rId10"/>
    <p:sldMasterId id="2147483670" r:id="rId11"/>
    <p:sldMasterId id="2147483671" r:id="rId12"/>
  </p:sldMasterIdLst>
  <p:notesMasterIdLst>
    <p:notesMasterId r:id="rId20"/>
  </p:notes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</p:sldIdLst>
  <p:sldSz cx="9144000" cy="5143500" type="screen16x9"/>
  <p:notesSz cx="7559675" cy="10691813"/>
  <p:embeddedFontLst>
    <p:embeddedFont>
      <p:font typeface="Lora" pitchFamily="2" charset="0"/>
      <p:regular r:id="rId21"/>
      <p:bold r:id="rId22"/>
      <p:italic r:id="rId23"/>
      <p:boldItalic r:id="rId24"/>
    </p:embeddedFont>
    <p:embeddedFont>
      <p:font typeface="Lora Medium" pitchFamily="2" charset="0"/>
      <p:regular r:id="rId25"/>
      <p:bold r:id="rId26"/>
      <p:italic r:id="rId27"/>
      <p:boldItalic r:id="rId28"/>
    </p:embeddedFont>
    <p:embeddedFont>
      <p:font typeface="Lora SemiBold" panose="020B0604020202020204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00E116B-6B34-4785-ABC1-6E2E67DBD128}">
  <a:tblStyle styleId="{300E116B-6B34-4785-ABC1-6E2E67DBD12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.xml"/><Relationship Id="rId18" Type="http://schemas.openxmlformats.org/officeDocument/2006/relationships/slide" Target="slides/slide6.xml"/><Relationship Id="rId26" Type="http://schemas.openxmlformats.org/officeDocument/2006/relationships/font" Target="fonts/font6.fntdata"/><Relationship Id="rId3" Type="http://schemas.openxmlformats.org/officeDocument/2006/relationships/slideMaster" Target="slideMasters/slideMaster3.xml"/><Relationship Id="rId21" Type="http://schemas.openxmlformats.org/officeDocument/2006/relationships/font" Target="fonts/font1.fntdata"/><Relationship Id="rId34" Type="http://schemas.openxmlformats.org/officeDocument/2006/relationships/viewProps" Target="viewProps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5.xml"/><Relationship Id="rId25" Type="http://schemas.openxmlformats.org/officeDocument/2006/relationships/font" Target="fonts/font5.fntdata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4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3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tableStyles" Target="tableStyles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7.xml"/><Relationship Id="rId31" Type="http://schemas.openxmlformats.org/officeDocument/2006/relationships/font" Target="fonts/font11.fntdata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2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theme" Target="theme/theme1.xml"/><Relationship Id="rId8" Type="http://schemas.openxmlformats.org/officeDocument/2006/relationships/slideMaster" Target="slideMasters/slideMaster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01688"/>
            <a:ext cx="7126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01688"/>
            <a:ext cx="7126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01688"/>
            <a:ext cx="7126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01688"/>
            <a:ext cx="7126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01688"/>
            <a:ext cx="7126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19400" cy="2051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457200" y="1203480"/>
            <a:ext cx="8228520" cy="2982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5100" tIns="105100" rIns="105100" bIns="1051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x">
  <p:cSld name="TITLE_AND_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19400" cy="2051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8228520" cy="2982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5100" tIns="105100" rIns="105100" bIns="1051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_NUMBER" type="blank">
  <p:cSld name="BLANK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5100" tIns="105100" rIns="105100" bIns="1051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5100" tIns="105100" rIns="105100" bIns="1051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_HEADER" type="blank">
  <p:cSld name="BLANK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5100" tIns="105100" rIns="105100" bIns="1051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BODY" type="tx">
  <p:cSld name="TITLE_AND_BOD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2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19400" cy="2051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2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8228520" cy="2982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2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5100" tIns="105100" rIns="105100" bIns="1051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TWO_COLUMNS" type="twoObj">
  <p:cSld name="TWO_OBJECTS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19400" cy="2051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4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4015440" cy="2982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body" idx="2"/>
          </p:nvPr>
        </p:nvSpPr>
        <p:spPr>
          <a:xfrm>
            <a:off x="4673880" y="1203480"/>
            <a:ext cx="4015440" cy="2982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5100" tIns="105100" rIns="105100" bIns="1051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ONLY" type="titleOnly">
  <p:cSld name="TITLE_ONLY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19400" cy="2051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5100" tIns="105100" rIns="105100" bIns="1051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_COLUMN_TEXT" type="blank">
  <p:cSld name="BLANK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5100" tIns="105100" rIns="105100" bIns="1051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_POINT" type="blank">
  <p:cSld name="BLANK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0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5100" tIns="105100" rIns="105100" bIns="1051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_TITLE_AND_DESCRIPTION" type="blank">
  <p:cSld name="BLANK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2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5100" tIns="105100" rIns="105100" bIns="1051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_ONLY" type="blank">
  <p:cSld name="BLANK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4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5100" tIns="105100" rIns="105100" bIns="1051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9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0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1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0840" y="132480"/>
            <a:ext cx="8840880" cy="487764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19400" cy="2051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5100" tIns="105100" rIns="105100" bIns="1051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" name="Google Shape;9;p1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0840" y="132480"/>
            <a:ext cx="8840880" cy="487764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19400" cy="2051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8228520" cy="2982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5100" tIns="105100" rIns="105100" bIns="1051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24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0840" y="132480"/>
            <a:ext cx="8840880" cy="487764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5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5100" tIns="105100" rIns="105100" bIns="1051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0840" y="132480"/>
            <a:ext cx="8840880" cy="487764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7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5100" tIns="105100" rIns="105100" bIns="1051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0840" y="132480"/>
            <a:ext cx="8840880" cy="487764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9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5100" tIns="105100" rIns="105100" bIns="1051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2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0840" y="132480"/>
            <a:ext cx="8840880" cy="487764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11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19400" cy="2051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1" name="Google Shape;41;p11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8228520" cy="2982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5100" tIns="105100" rIns="105100" bIns="1051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0840" y="132480"/>
            <a:ext cx="8840880" cy="487764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13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19400" cy="2051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0" name="Google Shape;50;p13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4015080" cy="2982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" name="Google Shape;51;p13"/>
          <p:cNvSpPr txBox="1">
            <a:spLocks noGrp="1"/>
          </p:cNvSpPr>
          <p:nvPr>
            <p:ph type="body" idx="2"/>
          </p:nvPr>
        </p:nvSpPr>
        <p:spPr>
          <a:xfrm>
            <a:off x="4673880" y="1203480"/>
            <a:ext cx="4015080" cy="2982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5100" tIns="105100" rIns="105100" bIns="1051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4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0840" y="132480"/>
            <a:ext cx="8840880" cy="487764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5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19400" cy="2051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1" name="Google Shape;61;p15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5100" tIns="105100" rIns="105100" bIns="1051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0840" y="132480"/>
            <a:ext cx="8840880" cy="487764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7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5100" tIns="105100" rIns="105100" bIns="1051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6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0840" y="132480"/>
            <a:ext cx="8840880" cy="487764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9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5100" tIns="105100" rIns="105100" bIns="1051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7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0840" y="132480"/>
            <a:ext cx="8840880" cy="487764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21"/>
          <p:cNvSpPr/>
          <p:nvPr/>
        </p:nvSpPr>
        <p:spPr>
          <a:xfrm>
            <a:off x="4572000" y="0"/>
            <a:ext cx="4570920" cy="5142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05100" tIns="105100" rIns="105100" bIns="1051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21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5100" tIns="105100" rIns="105100" bIns="1051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0840" y="132480"/>
            <a:ext cx="8840880" cy="487764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23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5100" tIns="105100" rIns="105100" bIns="1051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18440" y="0"/>
            <a:ext cx="9261360" cy="520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18440" y="0"/>
            <a:ext cx="9261360" cy="520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9142920" cy="514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7"/>
          <p:cNvSpPr/>
          <p:nvPr/>
        </p:nvSpPr>
        <p:spPr>
          <a:xfrm>
            <a:off x="375840" y="1587600"/>
            <a:ext cx="4811040" cy="2957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0000" bIns="91425" anchor="t" anchorCtr="0">
            <a:noAutofit/>
          </a:bodyPr>
          <a:lstStyle/>
          <a:p>
            <a:pPr marL="0" marR="0" lvl="0" indent="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00" b="1" i="0" u="none" strike="noStrike" cap="none" dirty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PROPOSTA DE LOCAÇÃO</a:t>
            </a:r>
            <a:endParaRPr sz="2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7000"/>
              </a:lnSpc>
              <a:spcBef>
                <a:spcPts val="799"/>
              </a:spcBef>
              <a:spcAft>
                <a:spcPts val="0"/>
              </a:spcAft>
              <a:buNone/>
            </a:pPr>
            <a:r>
              <a:rPr lang="pt-BR" sz="2100" b="0" i="0" u="none" strike="noStrike" cap="none" dirty="0">
                <a:solidFill>
                  <a:schemeClr val="dk1"/>
                </a:solidFill>
                <a:latin typeface="Lora Medium"/>
                <a:ea typeface="Lora Medium"/>
                <a:cs typeface="Lora Medium"/>
                <a:sym typeface="Lora Medium"/>
              </a:rPr>
              <a:t>Data o Evento: 20/02/2025</a:t>
            </a:r>
            <a:endParaRPr sz="2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7000"/>
              </a:lnSpc>
              <a:spcBef>
                <a:spcPts val="799"/>
              </a:spcBef>
              <a:spcAft>
                <a:spcPts val="0"/>
              </a:spcAft>
              <a:buNone/>
            </a:pPr>
            <a:r>
              <a:rPr lang="pt-BR" sz="2100" b="0" i="0" u="none" strike="noStrike" cap="none" dirty="0">
                <a:solidFill>
                  <a:schemeClr val="dk1"/>
                </a:solidFill>
                <a:latin typeface="Lora Medium"/>
                <a:ea typeface="Lora Medium"/>
                <a:cs typeface="Lora Medium"/>
                <a:sym typeface="Lora Medium"/>
              </a:rPr>
              <a:t>Local do Evento: EXC</a:t>
            </a:r>
            <a:endParaRPr sz="2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7000"/>
              </a:lnSpc>
              <a:spcBef>
                <a:spcPts val="799"/>
              </a:spcBef>
              <a:spcAft>
                <a:spcPts val="0"/>
              </a:spcAft>
              <a:buNone/>
            </a:pPr>
            <a:r>
              <a:rPr lang="pt-BR" sz="2100" b="0" i="0" u="none" strike="noStrike" cap="none" dirty="0">
                <a:solidFill>
                  <a:schemeClr val="dk1"/>
                </a:solidFill>
                <a:latin typeface="Lora Medium"/>
                <a:ea typeface="Lora Medium"/>
                <a:cs typeface="Lora Medium"/>
                <a:sym typeface="Lora Medium"/>
              </a:rPr>
              <a:t>Nº de pessoas: 300</a:t>
            </a:r>
            <a:endParaRPr sz="2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7000"/>
              </a:lnSpc>
              <a:spcBef>
                <a:spcPts val="1598"/>
              </a:spcBef>
              <a:spcAft>
                <a:spcPts val="0"/>
              </a:spcAft>
              <a:buNone/>
            </a:pPr>
            <a:r>
              <a:rPr lang="pt-BR" sz="2100" dirty="0"/>
              <a:t>Evento corporativo Grazi</a:t>
            </a:r>
            <a:endParaRPr sz="2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6" name="Google Shape;106;p28"/>
          <p:cNvGraphicFramePr/>
          <p:nvPr>
            <p:extLst>
              <p:ext uri="{D42A27DB-BD31-4B8C-83A1-F6EECF244321}">
                <p14:modId xmlns:p14="http://schemas.microsoft.com/office/powerpoint/2010/main" val="326295063"/>
              </p:ext>
            </p:extLst>
          </p:nvPr>
        </p:nvGraphicFramePr>
        <p:xfrm>
          <a:off x="1390320" y="971640"/>
          <a:ext cx="6340350" cy="3307000"/>
        </p:xfrm>
        <a:graphic>
          <a:graphicData uri="http://schemas.openxmlformats.org/drawingml/2006/table">
            <a:tbl>
              <a:tblPr>
                <a:noFill/>
                <a:tableStyleId>{300E116B-6B34-4785-ABC1-6E2E67DBD128}</a:tableStyleId>
              </a:tblPr>
              <a:tblGrid>
                <a:gridCol w="1584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4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5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85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4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u="none" strike="noStrike" cap="none">
                          <a:solidFill>
                            <a:srgbClr val="000000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DESCRIÇÃO</a:t>
                      </a:r>
                      <a:endParaRPr sz="1100" b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400" marR="68400" marT="45725" marB="45725">
                    <a:lnL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u="none" strike="noStrike" cap="none">
                          <a:solidFill>
                            <a:srgbClr val="000000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QUANTIDADE</a:t>
                      </a:r>
                      <a:endParaRPr sz="1100" b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400" marR="68400" marT="45725" marB="45725">
                    <a:lnL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u="none" strike="noStrike" cap="none">
                          <a:solidFill>
                            <a:srgbClr val="000000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UNITÁRIO</a:t>
                      </a:r>
                      <a:endParaRPr sz="1100" b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400" marR="68400" marT="45725" marB="45725">
                    <a:lnL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u="none" strike="noStrike" cap="none">
                          <a:solidFill>
                            <a:srgbClr val="000000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TOTAL</a:t>
                      </a:r>
                      <a:endParaRPr sz="1100" b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400" marR="68400" marT="45725" marB="45725">
                    <a:lnL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2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u="none" strike="noStrike" cap="none">
                          <a:solidFill>
                            <a:srgbClr val="000000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Sonorização para palco e launde ou plenária</a:t>
                      </a:r>
                      <a:endParaRPr sz="1100" b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400" marR="68400" marT="45725" marB="45725">
                    <a:lnL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u="none" strike="noStrike" cap="none">
                          <a:solidFill>
                            <a:srgbClr val="000000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                  1</a:t>
                      </a:r>
                      <a:endParaRPr sz="1100" b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400" marR="68400" marT="45725" marB="45725">
                    <a:lnL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u="none" strike="noStrike" cap="none" dirty="0">
                          <a:solidFill>
                            <a:srgbClr val="000000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R$ 5.550,00</a:t>
                      </a:r>
                      <a:endParaRPr sz="1100" b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400" marR="68400" marT="45725" marB="45725">
                    <a:lnL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u="none" strike="noStrike" cap="none" dirty="0">
                          <a:solidFill>
                            <a:srgbClr val="000000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R$ 5.550,00</a:t>
                      </a:r>
                      <a:endParaRPr sz="1100" b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400" marR="68400" marT="45725" marB="45725">
                    <a:lnL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4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u="none" strike="noStrike" cap="none">
                          <a:solidFill>
                            <a:srgbClr val="000000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Iluminação para rider  artístico, e palco ou plenária</a:t>
                      </a:r>
                      <a:endParaRPr sz="1100" b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400" marR="68400" marT="45725" marB="45725">
                    <a:lnL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u="none" strike="noStrike" cap="none">
                          <a:solidFill>
                            <a:srgbClr val="000000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                  1</a:t>
                      </a:r>
                      <a:endParaRPr sz="1100" b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400" marR="68400" marT="45725" marB="45725">
                    <a:lnL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u="none" strike="noStrike" cap="none" dirty="0">
                          <a:solidFill>
                            <a:srgbClr val="000000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R$ 5.850,00</a:t>
                      </a:r>
                      <a:endParaRPr sz="1100" b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400" marR="68400" marT="45725" marB="45725">
                    <a:lnL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u="none" strike="noStrike" cap="none" dirty="0">
                          <a:solidFill>
                            <a:srgbClr val="000000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R$ 5.850,00</a:t>
                      </a:r>
                      <a:endParaRPr sz="1100" b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400" marR="68400" marT="45725" marB="45725">
                    <a:lnL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u="none" strike="noStrike" cap="none">
                          <a:solidFill>
                            <a:srgbClr val="000000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Palco com  até 7 x 4 acabamento em carpete preto com 40cm </a:t>
                      </a:r>
                      <a:endParaRPr sz="1100" b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400" marR="68400" marT="45725" marB="45725">
                    <a:lnL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u="none" strike="noStrike" cap="none">
                          <a:solidFill>
                            <a:srgbClr val="000000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                   1</a:t>
                      </a:r>
                      <a:endParaRPr sz="1100" b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400" marR="68400" marT="45725" marB="45725">
                    <a:lnL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u="none" strike="noStrike" cap="none" dirty="0">
                          <a:solidFill>
                            <a:srgbClr val="000000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R$ 2.00,00</a:t>
                      </a:r>
                      <a:endParaRPr sz="1100" b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400" marR="68400" marT="45725" marB="45725">
                    <a:lnL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u="none" strike="noStrike" cap="none" dirty="0">
                          <a:solidFill>
                            <a:srgbClr val="000000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R$ 2.700,00</a:t>
                      </a:r>
                      <a:endParaRPr sz="1100" b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400" marR="68400" marT="45725" marB="45725">
                    <a:lnL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2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u="none" strike="noStrike" cap="none">
                          <a:solidFill>
                            <a:srgbClr val="000000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Valor Total 1</a:t>
                      </a:r>
                      <a:endParaRPr sz="1100" b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400" marR="68400" marT="45725" marB="45725">
                    <a:lnL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0" strike="noStrike">
                        <a:solidFill>
                          <a:srgbClr val="000000"/>
                        </a:solidFill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L="68400" marR="68400" marT="45725" marB="45725">
                    <a:lnL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strike="noStrike">
                          <a:solidFill>
                            <a:srgbClr val="000000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TOTAL:</a:t>
                      </a:r>
                      <a:endParaRPr sz="1100" b="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400" marR="68400" marT="45725" marB="45725">
                    <a:lnL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strike="noStrike" dirty="0">
                          <a:solidFill>
                            <a:srgbClr val="000000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R$ 11.400,00</a:t>
                      </a:r>
                      <a:endParaRPr sz="1100" b="0" strike="noStrik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400" marR="68400" marT="45725" marB="45725">
                    <a:lnL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9"/>
          <p:cNvSpPr/>
          <p:nvPr/>
        </p:nvSpPr>
        <p:spPr>
          <a:xfrm>
            <a:off x="1714176" y="866847"/>
            <a:ext cx="2998800" cy="595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0000" bIns="91425" anchor="ctr" anchorCtr="0">
            <a:noAutofit/>
          </a:bodyPr>
          <a:lstStyle/>
          <a:p>
            <a:pPr marL="0" marR="0" lvl="0" indent="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1" i="0" u="none" strike="noStrike" cap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ADICIONAIS 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12" name="Google Shape;112;p29"/>
          <p:cNvGraphicFramePr/>
          <p:nvPr>
            <p:extLst>
              <p:ext uri="{D42A27DB-BD31-4B8C-83A1-F6EECF244321}">
                <p14:modId xmlns:p14="http://schemas.microsoft.com/office/powerpoint/2010/main" val="3295464968"/>
              </p:ext>
            </p:extLst>
          </p:nvPr>
        </p:nvGraphicFramePr>
        <p:xfrm>
          <a:off x="1330713" y="1583473"/>
          <a:ext cx="6062453" cy="2187683"/>
        </p:xfrm>
        <a:graphic>
          <a:graphicData uri="http://schemas.openxmlformats.org/drawingml/2006/table">
            <a:tbl>
              <a:tblPr>
                <a:noFill/>
                <a:tableStyleId>{300E116B-6B34-4785-ABC1-6E2E67DBD128}</a:tableStyleId>
              </a:tblPr>
              <a:tblGrid>
                <a:gridCol w="15006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66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251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6201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strike="noStrike" dirty="0">
                          <a:solidFill>
                            <a:srgbClr val="000000"/>
                          </a:solidFill>
                          <a:latin typeface="Lora Medium"/>
                          <a:ea typeface="Arial"/>
                          <a:cs typeface="Arial"/>
                          <a:sym typeface="Lora Medium"/>
                        </a:rPr>
                        <a:t>Rider técnico, de som e luz, que são exigências da banda </a:t>
                      </a:r>
                      <a:endParaRPr sz="1100" b="0" strike="noStrik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400" marR="68400" marT="45725" marB="45725">
                    <a:lnL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strike="noStrike">
                          <a:solidFill>
                            <a:srgbClr val="000000"/>
                          </a:solidFill>
                          <a:latin typeface="Lora Medium"/>
                          <a:ea typeface="Lora Medium"/>
                          <a:cs typeface="Lora Medium"/>
                          <a:sym typeface="Lora Medium"/>
                        </a:rPr>
                        <a:t>                      1</a:t>
                      </a:r>
                      <a:endParaRPr sz="1100" b="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400" marR="68400" marT="45725" marB="45725">
                    <a:lnL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strike="noStrike" dirty="0">
                          <a:solidFill>
                            <a:srgbClr val="000000"/>
                          </a:solidFill>
                          <a:latin typeface="Lora Medium"/>
                          <a:ea typeface="Arial"/>
                          <a:cs typeface="Arial"/>
                          <a:sym typeface="Lora Medium"/>
                        </a:rPr>
                        <a:t>Valor R$ 4.850,00</a:t>
                      </a:r>
                      <a:endParaRPr sz="1100" b="0" strike="noStrik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400" marR="68400" marT="45725" marB="45725">
                    <a:lnL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388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strike="noStrike">
                          <a:solidFill>
                            <a:srgbClr val="000000"/>
                          </a:solidFill>
                          <a:latin typeface="Lora Medium"/>
                          <a:ea typeface="Lora Medium"/>
                          <a:cs typeface="Lora Medium"/>
                          <a:sym typeface="Lora Medium"/>
                        </a:rPr>
                        <a:t>Equipe operacional de produção do áudio visual</a:t>
                      </a:r>
                      <a:endParaRPr sz="1100" b="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400" marR="68400" marT="45725" marB="45725">
                    <a:lnL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strike="noStrike" dirty="0">
                          <a:solidFill>
                            <a:srgbClr val="000000"/>
                          </a:solidFill>
                          <a:latin typeface="Lora Medium"/>
                          <a:ea typeface="Lora Medium"/>
                          <a:cs typeface="Lora Medium"/>
                          <a:sym typeface="Lora Medium"/>
                        </a:rPr>
                        <a:t>                      1</a:t>
                      </a:r>
                      <a:endParaRPr sz="1100" b="0" strike="noStrik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400" marR="68400" marT="45725" marB="45725">
                    <a:lnL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strike="noStrike" dirty="0">
                          <a:solidFill>
                            <a:srgbClr val="000000"/>
                          </a:solidFill>
                          <a:latin typeface="Lora Medium"/>
                          <a:ea typeface="Lora Medium"/>
                          <a:cs typeface="Lora Medium"/>
                          <a:sym typeface="Lora Medium"/>
                        </a:rPr>
                        <a:t>Valor R$  4,500,00</a:t>
                      </a:r>
                      <a:endParaRPr sz="1100" b="0" strike="noStrik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400" marR="68400" marT="45725" marB="45725">
                    <a:lnL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178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strike="noStrike">
                          <a:solidFill>
                            <a:srgbClr val="000000"/>
                          </a:solidFill>
                          <a:latin typeface="Lora Medium"/>
                          <a:ea typeface="Lora Medium"/>
                          <a:cs typeface="Lora Medium"/>
                          <a:sym typeface="Lora Medium"/>
                        </a:rPr>
                        <a:t>Valor Total 1 + Total 2</a:t>
                      </a:r>
                      <a:endParaRPr sz="1100" b="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400" marR="68400" marT="45725" marB="45725">
                    <a:lnL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strike="noStrike">
                          <a:solidFill>
                            <a:srgbClr val="000000"/>
                          </a:solidFill>
                          <a:latin typeface="Lora Medium"/>
                          <a:ea typeface="Lora Medium"/>
                          <a:cs typeface="Lora Medium"/>
                          <a:sym typeface="Lora Medium"/>
                        </a:rPr>
                        <a:t>                      1</a:t>
                      </a:r>
                      <a:endParaRPr sz="1100" b="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400" marR="68400" marT="45725" marB="45725">
                    <a:lnL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strike="noStrike" dirty="0">
                          <a:solidFill>
                            <a:srgbClr val="000000"/>
                          </a:solidFill>
                          <a:latin typeface="Lora Medium"/>
                          <a:ea typeface="Lora Medium"/>
                          <a:cs typeface="Lora Medium"/>
                          <a:sym typeface="Lora Medium"/>
                        </a:rPr>
                        <a:t>A partir de R$ 23.400,00</a:t>
                      </a:r>
                      <a:endParaRPr sz="1100" b="0" strike="noStrik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400" marR="68400" marT="45725" marB="45725">
                    <a:lnL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0"/>
          <p:cNvSpPr/>
          <p:nvPr/>
        </p:nvSpPr>
        <p:spPr>
          <a:xfrm>
            <a:off x="426960" y="952560"/>
            <a:ext cx="4531320" cy="3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0000" bIns="91425" anchor="ctr" anchorCtr="0">
            <a:noAutofit/>
          </a:bodyPr>
          <a:lstStyle/>
          <a:p>
            <a:pPr marL="0" marR="0" lvl="0" indent="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1" i="0" u="none" strike="noStrike" cap="none" dirty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FORMA DE PAGAMENTO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7000"/>
              </a:lnSpc>
              <a:spcBef>
                <a:spcPts val="799"/>
              </a:spcBef>
              <a:spcAft>
                <a:spcPts val="0"/>
              </a:spcAft>
              <a:buNone/>
            </a:pPr>
            <a:r>
              <a:rPr lang="pt-BR" sz="1100" b="0" i="0" u="none" strike="noStrike" cap="none" dirty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Sinal (50%): na assinatura do contrato.</a:t>
            </a:r>
            <a:br>
              <a:rPr lang="pt-BR" sz="11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100" b="0" i="0" u="none" strike="noStrike" cap="none" dirty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Restante (50%): 25 dias antes do evento.</a:t>
            </a:r>
            <a:br>
              <a:rPr lang="pt-BR" sz="11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pt-BR" sz="11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100" b="0" i="0" u="none" strike="noStrike" cap="none" dirty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ID Cliente: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7000"/>
              </a:lnSpc>
              <a:spcBef>
                <a:spcPts val="799"/>
              </a:spcBef>
              <a:spcAft>
                <a:spcPts val="0"/>
              </a:spcAft>
              <a:buNone/>
            </a:pPr>
            <a:r>
              <a:rPr lang="pt-BR" sz="1100" b="0" i="0" u="none" strike="noStrike" cap="none" dirty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Data: 20/02/2025</a:t>
            </a:r>
            <a:br>
              <a:rPr lang="pt-BR" sz="11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7000"/>
              </a:lnSpc>
              <a:spcBef>
                <a:spcPts val="799"/>
              </a:spcBef>
              <a:spcAft>
                <a:spcPts val="0"/>
              </a:spcAft>
              <a:buNone/>
            </a:pPr>
            <a:r>
              <a:rPr lang="pt-BR" sz="1100" b="0" i="0" u="none" strike="noStrike" cap="none" dirty="0">
                <a:solidFill>
                  <a:schemeClr val="dk1"/>
                </a:solidFill>
                <a:latin typeface="Lora SemiBold"/>
                <a:ea typeface="Lora SemiBold"/>
                <a:cs typeface="Lora SemiBold"/>
                <a:sym typeface="Lora SemiBold"/>
              </a:rPr>
              <a:t>Dados para faturamento:    </a:t>
            </a:r>
            <a:br>
              <a:rPr lang="pt-BR" sz="11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100" b="0" i="0" u="none" strike="noStrike" cap="none" dirty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Stone Instituição de Pagamentos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7000"/>
              </a:lnSpc>
              <a:spcBef>
                <a:spcPts val="799"/>
              </a:spcBef>
              <a:spcAft>
                <a:spcPts val="0"/>
              </a:spcAft>
              <a:buNone/>
            </a:pPr>
            <a:r>
              <a:rPr lang="pt-BR" sz="1100" b="0" i="0" u="none" strike="noStrike" cap="none" dirty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Agência: 0001</a:t>
            </a:r>
            <a:br>
              <a:rPr lang="pt-BR" sz="11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100" b="0" i="0" u="none" strike="noStrike" cap="none" dirty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Conta: 53650-8</a:t>
            </a:r>
            <a:br>
              <a:rPr lang="pt-BR" sz="11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100" b="0" i="0" u="none" strike="noStrike" cap="none" dirty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CNPJ: 36.147.661/0001-91</a:t>
            </a:r>
            <a:br>
              <a:rPr lang="pt-BR" sz="11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100" b="0" i="0" u="none" strike="noStrike" cap="none" dirty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Titular: Guga </a:t>
            </a:r>
            <a:r>
              <a:rPr lang="pt-BR" sz="1100" b="0" i="0" u="none" strike="noStrike" cap="none" dirty="0" err="1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Wigert</a:t>
            </a:r>
            <a:r>
              <a:rPr lang="pt-BR" sz="1100" b="0" i="0" u="none" strike="noStrike" cap="none" dirty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 DJ e Produção de Eventos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2" name="Google Shape;122;p31"/>
          <p:cNvGraphicFramePr/>
          <p:nvPr/>
        </p:nvGraphicFramePr>
        <p:xfrm>
          <a:off x="457200" y="555780"/>
          <a:ext cx="8229250" cy="3947170"/>
        </p:xfrm>
        <a:graphic>
          <a:graphicData uri="http://schemas.openxmlformats.org/drawingml/2006/table">
            <a:tbl>
              <a:tblPr>
                <a:noFill/>
                <a:tableStyleId>{300E116B-6B34-4785-ABC1-6E2E67DBD128}</a:tableStyleId>
              </a:tblPr>
              <a:tblGrid>
                <a:gridCol w="4114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20475">
                <a:tc>
                  <a:txBody>
                    <a:bodyPr/>
                    <a:lstStyle/>
                    <a:p>
                      <a:pPr marL="2160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600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Equipamento de Som </a:t>
                      </a:r>
                      <a:r>
                        <a:rPr lang="pt-BR" sz="1600"/>
                        <a:t>+ rider</a:t>
                      </a:r>
                      <a:endParaRPr sz="1200"/>
                    </a:p>
                    <a:p>
                      <a:pPr marL="2160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50" b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216000" marR="0" lvl="0" indent="-257909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Char char="●"/>
                      </a:pPr>
                      <a:r>
                        <a:rPr lang="pt-BR" sz="1200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 Line Array </a:t>
                      </a:r>
                      <a:r>
                        <a:rPr lang="pt-BR" sz="1200"/>
                        <a:t>DB acustica  AL-1061</a:t>
                      </a:r>
                      <a:endParaRPr sz="1200"/>
                    </a:p>
                    <a:p>
                      <a:pPr marL="216000" marR="0" lvl="0" indent="-257909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Char char="●"/>
                      </a:pPr>
                      <a:r>
                        <a:rPr lang="pt-BR" sz="1200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 Subs</a:t>
                      </a:r>
                      <a:r>
                        <a:rPr lang="pt-BR" sz="1200"/>
                        <a:t> DB acústica 18” AES</a:t>
                      </a:r>
                      <a:endParaRPr sz="1200"/>
                    </a:p>
                    <a:p>
                      <a:pPr marL="216000" marR="0" lvl="0" indent="-257909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Char char="●"/>
                      </a:pPr>
                      <a:r>
                        <a:rPr lang="pt-BR" sz="1200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 Console </a:t>
                      </a:r>
                      <a:r>
                        <a:rPr lang="pt-BR" sz="1200"/>
                        <a:t>Behringer X32</a:t>
                      </a:r>
                      <a:endParaRPr sz="1200"/>
                    </a:p>
                    <a:p>
                      <a:pPr marL="216000" marR="0" lvl="0" indent="-257909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Char char="●"/>
                      </a:pPr>
                      <a:r>
                        <a:rPr lang="pt-BR" sz="1200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 Processador DB Séries 3x6</a:t>
                      </a:r>
                      <a:endParaRPr sz="1200"/>
                    </a:p>
                    <a:p>
                      <a:pPr marL="216000" marR="0" lvl="0" indent="-257909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Char char="●"/>
                      </a:pPr>
                      <a:r>
                        <a:rPr lang="pt-BR" sz="1200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 Amplificador DB Séries LD 2k</a:t>
                      </a:r>
                      <a:endParaRPr sz="1200"/>
                    </a:p>
                    <a:p>
                      <a:pPr marL="216000" marR="0" lvl="0" indent="-25791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Char char="●"/>
                      </a:pPr>
                      <a:r>
                        <a:rPr lang="pt-BR" sz="1200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 Amplificador DB Séries LD 6000</a:t>
                      </a:r>
                      <a:endParaRPr sz="1200" b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216000" marR="0" lvl="0" indent="-25791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●"/>
                      </a:pPr>
                      <a:r>
                        <a:rPr lang="pt-BR" sz="1200"/>
                        <a:t>2 Caixas para monitor D.A.S. Vantec 12A </a:t>
                      </a:r>
                      <a:endParaRPr sz="1200"/>
                    </a:p>
                    <a:p>
                      <a:pPr marL="216000" marR="0" lvl="0" indent="-25791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●"/>
                      </a:pPr>
                      <a:r>
                        <a:rPr lang="pt-BR" sz="1200"/>
                        <a:t>1 DJ Boot The Box PRo</a:t>
                      </a:r>
                      <a:endParaRPr sz="1200"/>
                    </a:p>
                    <a:p>
                      <a:pPr marL="216000" marR="0" lvl="0" indent="-25791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●"/>
                      </a:pPr>
                      <a:r>
                        <a:rPr lang="pt-BR" sz="1200"/>
                        <a:t>3 sistemas In Ear Xvive</a:t>
                      </a:r>
                      <a:endParaRPr sz="1200"/>
                    </a:p>
                    <a:p>
                      <a:pPr marL="216000" marR="0" lvl="0" indent="-25791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●"/>
                      </a:pPr>
                      <a:r>
                        <a:rPr lang="pt-BR" sz="1200"/>
                        <a:t>1 Power play behringer 8 vias </a:t>
                      </a:r>
                      <a:endParaRPr sz="1200"/>
                    </a:p>
                    <a:p>
                      <a:pPr marL="216000" marR="0" lvl="0" indent="-25791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●"/>
                      </a:pPr>
                      <a:r>
                        <a:rPr lang="pt-BR" sz="1200"/>
                        <a:t>10 Direct box passiva</a:t>
                      </a:r>
                      <a:endParaRPr sz="1200"/>
                    </a:p>
                    <a:p>
                      <a:pPr marL="216000" marR="0" lvl="0" indent="-25791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●"/>
                      </a:pPr>
                      <a:r>
                        <a:rPr lang="pt-BR" sz="1200"/>
                        <a:t>1 Corpo de Bateria Tama</a:t>
                      </a:r>
                      <a:endParaRPr sz="1200"/>
                    </a:p>
                    <a:p>
                      <a:pPr marL="216000" marR="0" lvl="0" indent="-25791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●"/>
                      </a:pPr>
                      <a:r>
                        <a:rPr lang="pt-BR" sz="1200"/>
                        <a:t>1 kit de bateria Sennheiser</a:t>
                      </a:r>
                      <a:endParaRPr sz="1200"/>
                    </a:p>
                    <a:p>
                      <a:pPr marL="216000" marR="0" lvl="0" indent="-25791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●"/>
                      </a:pPr>
                      <a:r>
                        <a:rPr lang="pt-BR" sz="1200"/>
                        <a:t>10 Pedestais de Microfone</a:t>
                      </a:r>
                      <a:endParaRPr sz="1200"/>
                    </a:p>
                    <a:p>
                      <a:pPr marL="216000" marR="0" lvl="0" indent="-25791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●"/>
                      </a:pPr>
                      <a:r>
                        <a:rPr lang="pt-BR" sz="1200"/>
                        <a:t>1 Amplificador de Baixo Gk</a:t>
                      </a:r>
                      <a:endParaRPr sz="1200"/>
                    </a:p>
                    <a:p>
                      <a:pPr marL="216000" marR="0" lvl="0" indent="-257909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●"/>
                      </a:pPr>
                      <a:r>
                        <a:rPr lang="pt-BR" sz="1200"/>
                        <a:t>1 Amplificador de Guitarra Fender</a:t>
                      </a:r>
                      <a:endParaRPr sz="1200"/>
                    </a:p>
                    <a:p>
                      <a:pPr marL="216000" marR="0" lvl="0" indent="-257909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Char char="●"/>
                      </a:pPr>
                      <a:r>
                        <a:rPr lang="pt-BR" sz="1200"/>
                        <a:t>2</a:t>
                      </a:r>
                      <a:r>
                        <a:rPr lang="pt-BR" sz="1200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Microfone sem fio Sennheiser EW 100 G4</a:t>
                      </a:r>
                      <a:endParaRPr sz="1200"/>
                    </a:p>
                    <a:p>
                      <a:pPr marL="216000" marR="0" lvl="0" indent="-257909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Char char="●"/>
                      </a:pPr>
                      <a:r>
                        <a:rPr lang="pt-BR" sz="1200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 Controladora Pionner Dj Xdj RX2</a:t>
                      </a:r>
                      <a:endParaRPr sz="1200"/>
                    </a:p>
                    <a:p>
                      <a:pPr marL="2160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50" b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6000" marR="36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50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pt-BR" sz="1800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</a:t>
                      </a:r>
                      <a:r>
                        <a:rPr lang="pt-BR" sz="1600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Equipamento de Luz</a:t>
                      </a:r>
                      <a:endParaRPr sz="120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50" b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216000" marR="0" lvl="0" indent="-257909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Char char="●"/>
                      </a:pPr>
                      <a:r>
                        <a:rPr lang="pt-BR" sz="1200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 Moving head bean 9R</a:t>
                      </a:r>
                      <a:endParaRPr sz="1200"/>
                    </a:p>
                    <a:p>
                      <a:pPr marL="216000" marR="0" lvl="0" indent="-257909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Char char="●"/>
                      </a:pPr>
                      <a:r>
                        <a:rPr lang="pt-BR" sz="1200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 par 64 led rgbw</a:t>
                      </a:r>
                      <a:endParaRPr sz="1200"/>
                    </a:p>
                    <a:p>
                      <a:pPr marL="216000" marR="0" lvl="0" indent="-257909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Char char="●"/>
                      </a:pPr>
                      <a:r>
                        <a:rPr lang="pt-BR" sz="1200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 Par led cob 200w quente e frio </a:t>
                      </a:r>
                      <a:endParaRPr sz="1200"/>
                    </a:p>
                    <a:p>
                      <a:pPr marL="216000" marR="0" lvl="0" indent="-257909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Char char="●"/>
                      </a:pPr>
                      <a:r>
                        <a:rPr lang="pt-BR" sz="1200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 Máquina de fumaça HB light</a:t>
                      </a:r>
                      <a:endParaRPr sz="1200"/>
                    </a:p>
                    <a:p>
                      <a:pPr marL="216000" marR="0" lvl="0" indent="-257909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Char char="●"/>
                      </a:pPr>
                      <a:r>
                        <a:rPr lang="pt-BR" sz="1200"/>
                        <a:t>5</a:t>
                      </a:r>
                      <a:r>
                        <a:rPr lang="pt-BR" sz="1200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Ribalta 18x12 watts rgbw</a:t>
                      </a:r>
                      <a:endParaRPr sz="1200"/>
                    </a:p>
                    <a:p>
                      <a:pPr marL="216000" marR="0" lvl="0" indent="-25791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Char char="●"/>
                      </a:pPr>
                      <a:r>
                        <a:rPr lang="pt-BR" sz="1200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 Strobo 1000 watts</a:t>
                      </a:r>
                      <a:endParaRPr sz="1200" b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216000" marR="0" lvl="0" indent="-25791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●"/>
                      </a:pPr>
                      <a:r>
                        <a:rPr lang="pt-BR" sz="1200"/>
                        <a:t>2 mini brut 4 lâmpadas 200w</a:t>
                      </a:r>
                      <a:endParaRPr sz="1200"/>
                    </a:p>
                    <a:p>
                      <a:pPr marL="216000" marR="0" lvl="0" indent="-25791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●"/>
                      </a:pPr>
                      <a:r>
                        <a:rPr lang="pt-BR" sz="1200"/>
                        <a:t>Estrutura Box truss com sleeve</a:t>
                      </a:r>
                      <a:endParaRPr sz="1200"/>
                    </a:p>
                    <a:p>
                      <a:pPr marL="216000" marR="0" lvl="0" indent="-25791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●"/>
                      </a:pPr>
                      <a:r>
                        <a:rPr lang="pt-BR" sz="1200"/>
                        <a:t>Forração em carpete preto</a:t>
                      </a:r>
                      <a:endParaRPr sz="1200"/>
                    </a:p>
                    <a:p>
                      <a:pPr marL="216000" marR="0" lvl="0" indent="-25791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●"/>
                      </a:pPr>
                      <a:r>
                        <a:rPr lang="pt-BR" sz="1200"/>
                        <a:t>4 Cinta para elevação de carga</a:t>
                      </a:r>
                      <a:endParaRPr sz="1200"/>
                    </a:p>
                    <a:p>
                      <a:pPr marL="216000" marR="0" lvl="0" indent="-25791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●"/>
                      </a:pPr>
                      <a:r>
                        <a:rPr lang="pt-BR" sz="1200"/>
                        <a:t>4 Talha manual com corrente</a:t>
                      </a:r>
                      <a:endParaRPr sz="1200"/>
                    </a:p>
                    <a:p>
                      <a:pPr marL="216000" marR="0" lvl="0" indent="-25791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Char char="●"/>
                      </a:pPr>
                      <a:r>
                        <a:rPr lang="pt-BR" sz="1200"/>
                        <a:t>1 Mesa de Luz MA2 Command + 2 telas Touch</a:t>
                      </a:r>
                      <a:endParaRPr sz="1200"/>
                    </a:p>
                    <a:p>
                      <a:pPr marL="216000" marR="0" lvl="0" indent="-25791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●"/>
                      </a:pPr>
                      <a:r>
                        <a:rPr lang="pt-BR" sz="1200"/>
                        <a:t>Praticável telescópico</a:t>
                      </a:r>
                      <a:endParaRPr sz="1200"/>
                    </a:p>
                    <a:p>
                      <a:pPr marL="216000" marR="0" lvl="0" indent="-257909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●"/>
                      </a:pPr>
                      <a:r>
                        <a:rPr lang="pt-BR" sz="1200"/>
                        <a:t>Pés para praticável</a:t>
                      </a:r>
                      <a:endParaRPr sz="1200"/>
                    </a:p>
                  </a:txBody>
                  <a:tcPr marL="36000" marR="36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382</Words>
  <Application>Microsoft Office PowerPoint</Application>
  <PresentationFormat>Apresentação na tela (16:9)</PresentationFormat>
  <Paragraphs>75</Paragraphs>
  <Slides>7</Slides>
  <Notes>7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12</vt:i4>
      </vt:variant>
      <vt:variant>
        <vt:lpstr>Títulos de slides</vt:lpstr>
      </vt:variant>
      <vt:variant>
        <vt:i4>7</vt:i4>
      </vt:variant>
    </vt:vector>
  </HeadingPairs>
  <TitlesOfParts>
    <vt:vector size="25" baseType="lpstr">
      <vt:lpstr>Arial</vt:lpstr>
      <vt:lpstr>Lora SemiBold</vt:lpstr>
      <vt:lpstr>Lora</vt:lpstr>
      <vt:lpstr>Lora Medium</vt:lpstr>
      <vt:lpstr>Noto Sans Symbols</vt:lpstr>
      <vt:lpstr>Times New Roman</vt:lpstr>
      <vt:lpstr>Simple Light</vt:lpstr>
      <vt:lpstr>Simple Light</vt:lpstr>
      <vt:lpstr>Simple Light</vt:lpstr>
      <vt:lpstr>Simple Light</vt:lpstr>
      <vt:lpstr>Simple Light</vt:lpstr>
      <vt:lpstr>Simple Light</vt:lpstr>
      <vt:lpstr>Simple Light</vt:lpstr>
      <vt:lpstr>Simple Light</vt:lpstr>
      <vt:lpstr>Simple Light</vt:lpstr>
      <vt:lpstr>Simple Light</vt:lpstr>
      <vt:lpstr>Simple Light</vt:lpstr>
      <vt:lpstr>Simple Light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ExC Rio Operacional</dc:creator>
  <cp:lastModifiedBy>ExC Rio Operacional</cp:lastModifiedBy>
  <cp:revision>2</cp:revision>
  <dcterms:modified xsi:type="dcterms:W3CDTF">2025-01-08T18:46:53Z</dcterms:modified>
</cp:coreProperties>
</file>