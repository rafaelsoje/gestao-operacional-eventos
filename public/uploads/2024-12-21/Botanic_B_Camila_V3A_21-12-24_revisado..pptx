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9144000" cy="5143500" type="screen16x9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A6C2D015-9AE5-48D2-B7F1-9FCC55CDAD9E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2A195EB-5B8D-4960-958D-26FCB4458DBC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2CA7279-48FC-4BE6-B121-DB39D2F23EEE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2C5DBCC3-DEDA-4F3A-B3EB-82E99D9EC5A2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FD461BD-857C-4189-8AA4-A8FEB227CE19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E11444A-A9BC-4380-9745-0EB0E1E13A16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31EA1DC8-5C69-4756-AA7E-CE92F8348D31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5D5824E1-98FB-43C1-8B34-B3585726C735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0FF4455A-EA4A-45F0-8C40-D0C60D8A28C6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A474746E-DA8B-4A3B-BDE8-6201A85B516A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28563EF6-8DA8-4170-A785-DC24D360BD51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126B58C-00D5-4CBE-BA5A-256A2826825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;p1"/>
          <p:cNvPicPr/>
          <p:nvPr/>
        </p:nvPicPr>
        <p:blipFill>
          <a:blip r:embed="rId3"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105120" tIns="105120" r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AC72BAF-9A18-47FD-8ACB-A20139EEEA13}" type="slidenum">
              <a:rPr lang="pt-BR" sz="12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9;p1"/>
          <p:cNvPicPr/>
          <p:nvPr/>
        </p:nvPicPr>
        <p:blipFill>
          <a:blip r:embed="rId3"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105120" tIns="105120" r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3319874-2ADC-40B5-A4F8-A2F9B27A7A48}" type="slidenum">
              <a:rPr lang="pt-BR" sz="12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9;p1"/>
          <p:cNvPicPr/>
          <p:nvPr/>
        </p:nvPicPr>
        <p:blipFill>
          <a:blip r:embed="rId3"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105120" tIns="105120" r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874E729-FA0C-4C28-BA78-ADD054E472D3}" type="slidenum">
              <a:rPr lang="pt-BR" sz="12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9;p1"/>
          <p:cNvPicPr/>
          <p:nvPr/>
        </p:nvPicPr>
        <p:blipFill>
          <a:blip r:embed="rId3"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105120" tIns="105120" r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C87DC84-711B-45D0-A786-7CFC0B4A35D3}" type="slidenum">
              <a:rPr lang="pt-BR" sz="12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9;p1"/>
          <p:cNvPicPr/>
          <p:nvPr/>
        </p:nvPicPr>
        <p:blipFill>
          <a:blip r:embed="rId3"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105120" tIns="105120" r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E23BA84-D759-4B23-B128-02C185125ECB}" type="slidenum">
              <a:rPr lang="pt-BR" sz="12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9;p1"/>
          <p:cNvPicPr/>
          <p:nvPr/>
        </p:nvPicPr>
        <p:blipFill>
          <a:blip r:embed="rId3"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1" name="PlaceHolder 3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105120" tIns="105120" r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BAC8EEF-5BC1-4207-A35D-96BC729F430E}" type="slidenum">
              <a:rPr lang="pt-BR" sz="12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9;p1"/>
          <p:cNvPicPr/>
          <p:nvPr/>
        </p:nvPicPr>
        <p:blipFill>
          <a:blip r:embed="rId3"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222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388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222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8" name="PlaceHolder 4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105120" tIns="105120" r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4E61CC0-36A8-407A-A69A-C087453985B8}" type="slidenum">
              <a:rPr lang="pt-BR" sz="12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9;p1"/>
          <p:cNvPicPr/>
          <p:nvPr/>
        </p:nvPicPr>
        <p:blipFill>
          <a:blip r:embed="rId3"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105120" tIns="105120" r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DCECF97-83C2-49E7-8BCD-E91620D0D98F}" type="slidenum">
              <a:rPr lang="pt-BR" sz="12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9;p1"/>
          <p:cNvPicPr/>
          <p:nvPr/>
        </p:nvPicPr>
        <p:blipFill>
          <a:blip r:embed="rId3"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ln w="0">
            <a:noFill/>
          </a:ln>
        </p:spPr>
      </p:pic>
      <p:sp>
        <p:nvSpPr>
          <p:cNvPr id="37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105120" tIns="105120" r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397377F-75B5-4B00-B420-A41BA6215B8B}" type="slidenum">
              <a:rPr lang="pt-BR" sz="12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9;p1"/>
          <p:cNvPicPr/>
          <p:nvPr/>
        </p:nvPicPr>
        <p:blipFill>
          <a:blip r:embed="rId3"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ln w="0">
            <a:noFill/>
          </a:ln>
        </p:spPr>
      </p:pic>
      <p:sp>
        <p:nvSpPr>
          <p:cNvPr id="39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105120" tIns="105120" r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90984EE-AF35-406A-BA0A-DA8C77F11DD1}" type="slidenum">
              <a:rPr lang="pt-BR" sz="12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9;p1"/>
          <p:cNvPicPr/>
          <p:nvPr/>
        </p:nvPicPr>
        <p:blipFill>
          <a:blip r:embed="rId3"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ln w="0">
            <a:noFill/>
          </a:ln>
        </p:spPr>
      </p:pic>
      <p:sp>
        <p:nvSpPr>
          <p:cNvPr id="41" name="Google Shape;37;p9"/>
          <p:cNvSpPr/>
          <p:nvPr/>
        </p:nvSpPr>
        <p:spPr>
          <a:xfrm>
            <a:off x="4572000" y="0"/>
            <a:ext cx="4570920" cy="51426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5120" tIns="105120" rIns="105120" bIns="1051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105120" tIns="105120" r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7429472-F905-4531-A648-2F83FF48ECDB}" type="slidenum">
              <a:rPr lang="pt-BR" sz="12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9;p1"/>
          <p:cNvPicPr/>
          <p:nvPr/>
        </p:nvPicPr>
        <p:blipFill>
          <a:blip r:embed="rId3"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105120" tIns="105120" r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D26D1B2-C722-465C-BD95-810790432D3E}" type="slidenum">
              <a:rPr lang="pt-BR" sz="12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55;p13"/>
          <p:cNvPicPr/>
          <p:nvPr/>
        </p:nvPicPr>
        <p:blipFill>
          <a:blip r:embed="rId2"/>
          <a:stretch/>
        </p:blipFill>
        <p:spPr>
          <a:xfrm>
            <a:off x="-118440" y="0"/>
            <a:ext cx="9261360" cy="52092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60;p14"/>
          <p:cNvPicPr/>
          <p:nvPr/>
        </p:nvPicPr>
        <p:blipFill>
          <a:blip r:embed="rId2"/>
          <a:stretch/>
        </p:blipFill>
        <p:spPr>
          <a:xfrm>
            <a:off x="-118440" y="0"/>
            <a:ext cx="9261360" cy="5209200"/>
          </a:xfrm>
          <a:prstGeom prst="rect">
            <a:avLst/>
          </a:prstGeom>
          <a:ln w="0">
            <a:noFill/>
          </a:ln>
        </p:spPr>
      </p:pic>
      <p:pic>
        <p:nvPicPr>
          <p:cNvPr id="47" name="Google Shape;61;p14"/>
          <p:cNvPicPr/>
          <p:nvPr/>
        </p:nvPicPr>
        <p:blipFill>
          <a:blip r:embed="rId3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66;p15"/>
          <p:cNvSpPr/>
          <p:nvPr/>
        </p:nvSpPr>
        <p:spPr>
          <a:xfrm>
            <a:off x="375840" y="1587600"/>
            <a:ext cx="4811040" cy="295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Autofit/>
          </a:bodyPr>
          <a:lstStyle/>
          <a:p>
            <a:pPr>
              <a:lnSpc>
                <a:spcPct val="107000"/>
              </a:lnSpc>
              <a:tabLst>
                <a:tab pos="0" algn="l"/>
              </a:tabLst>
            </a:pPr>
            <a:r>
              <a:rPr lang="pt-BR" sz="2100" b="1" strike="noStrike" spc="-1" dirty="0">
                <a:solidFill>
                  <a:schemeClr val="dk1"/>
                </a:solidFill>
                <a:latin typeface="Lora"/>
                <a:ea typeface="Lora"/>
              </a:rPr>
              <a:t>PROPOSTA DE LOCAÇÃO</a:t>
            </a:r>
            <a:endParaRPr lang="pt-BR" sz="21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7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pt-BR" sz="2100" b="0" strike="noStrike" spc="-1" dirty="0">
                <a:solidFill>
                  <a:schemeClr val="dk1"/>
                </a:solidFill>
                <a:latin typeface="Lora Medium"/>
                <a:ea typeface="Lora Medium"/>
              </a:rPr>
              <a:t>Data o Evento: </a:t>
            </a:r>
            <a:r>
              <a:rPr lang="pt-BR" sz="2100" spc="-1" dirty="0">
                <a:solidFill>
                  <a:schemeClr val="dk1"/>
                </a:solidFill>
                <a:latin typeface="Lora Medium"/>
                <a:ea typeface="Lora Medium"/>
              </a:rPr>
              <a:t>21</a:t>
            </a:r>
            <a:r>
              <a:rPr lang="pt-BR" sz="2100" b="0" strike="noStrike" spc="-1" dirty="0">
                <a:solidFill>
                  <a:schemeClr val="dk1"/>
                </a:solidFill>
                <a:latin typeface="Lora Medium"/>
                <a:ea typeface="Lora Medium"/>
              </a:rPr>
              <a:t>/12/2024</a:t>
            </a:r>
            <a:endParaRPr lang="pt-BR" sz="21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7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pt-BR" sz="2100" b="0" strike="noStrike" spc="-1" dirty="0">
                <a:solidFill>
                  <a:schemeClr val="dk1"/>
                </a:solidFill>
                <a:latin typeface="Lora Medium"/>
                <a:ea typeface="Lora Medium"/>
              </a:rPr>
              <a:t>Local do Evento: EXC</a:t>
            </a:r>
            <a:endParaRPr lang="pt-BR" sz="21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7000"/>
              </a:lnSpc>
              <a:spcBef>
                <a:spcPts val="799"/>
              </a:spcBef>
              <a:spcAft>
                <a:spcPts val="799"/>
              </a:spcAft>
              <a:tabLst>
                <a:tab pos="0" algn="l"/>
              </a:tabLst>
            </a:pPr>
            <a:r>
              <a:rPr lang="pt-BR" sz="2100" b="0" strike="noStrike" spc="-1" dirty="0">
                <a:solidFill>
                  <a:schemeClr val="dk1"/>
                </a:solidFill>
                <a:latin typeface="Lora Medium"/>
                <a:ea typeface="Lora Medium"/>
              </a:rPr>
              <a:t>Nº de pessoas: 500</a:t>
            </a:r>
            <a:endParaRPr lang="pt-BR" sz="2100" b="0" strike="noStrike" spc="-1" dirty="0">
              <a:solidFill>
                <a:srgbClr val="000000"/>
              </a:solidFill>
              <a:latin typeface="Arial"/>
              <a:ea typeface="Lora Medium"/>
            </a:endParaRPr>
          </a:p>
          <a:p>
            <a:pPr>
              <a:lnSpc>
                <a:spcPct val="107000"/>
              </a:lnSpc>
              <a:spcBef>
                <a:spcPts val="799"/>
              </a:spcBef>
              <a:spcAft>
                <a:spcPts val="799"/>
              </a:spcAft>
              <a:tabLst>
                <a:tab pos="0" algn="l"/>
              </a:tabLst>
            </a:pPr>
            <a:r>
              <a:rPr lang="pt-BR" sz="2100" b="0" strike="noStrike" spc="-1" dirty="0">
                <a:solidFill>
                  <a:srgbClr val="000000"/>
                </a:solidFill>
                <a:latin typeface="Arial"/>
              </a:rPr>
              <a:t>Tais </a:t>
            </a:r>
            <a:r>
              <a:rPr lang="pt-BR" sz="2100" b="0" strike="noStrike" spc="-1" dirty="0" err="1">
                <a:solidFill>
                  <a:srgbClr val="000000"/>
                </a:solidFill>
                <a:latin typeface="Arial"/>
              </a:rPr>
              <a:t>Lorana</a:t>
            </a:r>
            <a:r>
              <a:rPr lang="pt-BR" sz="2100" b="0" strike="noStrike" spc="-1" dirty="0">
                <a:solidFill>
                  <a:srgbClr val="000000"/>
                </a:solidFill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71;p16"/>
          <p:cNvGraphicFramePr/>
          <p:nvPr>
            <p:extLst>
              <p:ext uri="{D42A27DB-BD31-4B8C-83A1-F6EECF244321}">
                <p14:modId xmlns:p14="http://schemas.microsoft.com/office/powerpoint/2010/main" val="2903409890"/>
              </p:ext>
            </p:extLst>
          </p:nvPr>
        </p:nvGraphicFramePr>
        <p:xfrm>
          <a:off x="1390320" y="971640"/>
          <a:ext cx="6340320" cy="3306960"/>
        </p:xfrm>
        <a:graphic>
          <a:graphicData uri="http://schemas.openxmlformats.org/drawingml/2006/table">
            <a:tbl>
              <a:tblPr/>
              <a:tblGrid>
                <a:gridCol w="158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5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5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4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799"/>
                        </a:spcAft>
                        <a:tabLst>
                          <a:tab pos="0" algn="l"/>
                        </a:tabLst>
                      </a:pPr>
                      <a:r>
                        <a:rPr lang="pt-BR" sz="1100" b="0" strike="noStrike" spc="-1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DESCRIÇÃO</a:t>
                      </a:r>
                      <a:endParaRPr lang="pt-BR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799"/>
                        </a:spcAft>
                        <a:tabLst>
                          <a:tab pos="0" algn="l"/>
                        </a:tabLst>
                      </a:pPr>
                      <a:r>
                        <a:rPr lang="pt-BR" sz="1100" b="0" strike="noStrike" spc="-1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QUANTIDADE</a:t>
                      </a:r>
                      <a:endParaRPr lang="pt-BR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799"/>
                        </a:spcAft>
                        <a:tabLst>
                          <a:tab pos="0" algn="l"/>
                        </a:tabLst>
                      </a:pPr>
                      <a:r>
                        <a:rPr lang="pt-BR" sz="1100" b="0" strike="noStrike" spc="-1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UNITÁRIO</a:t>
                      </a:r>
                      <a:endParaRPr lang="pt-BR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799"/>
                        </a:spcAft>
                        <a:tabLst>
                          <a:tab pos="0" algn="l"/>
                        </a:tabLst>
                      </a:pPr>
                      <a:r>
                        <a:rPr lang="pt-BR" sz="1100" b="0" strike="noStrike" spc="-1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TOTAL</a:t>
                      </a:r>
                      <a:endParaRPr lang="pt-BR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Sonorização para palco e launde ou plenária</a:t>
                      </a:r>
                      <a:endParaRPr lang="pt-BR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                  1</a:t>
                      </a:r>
                      <a:endParaRPr lang="pt-BR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R$ 4.550,00</a:t>
                      </a: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R$ 4.550,00</a:t>
                      </a: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4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Iluminação para rider  artístico, e palco ou plenária</a:t>
                      </a:r>
                      <a:endParaRPr lang="pt-BR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                  1</a:t>
                      </a:r>
                      <a:endParaRPr lang="pt-BR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R$ 4.850,00</a:t>
                      </a: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R$ 4.850,00</a:t>
                      </a: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Palco com  até 7 x 4 acabamento em carpete preto com 40cm </a:t>
                      </a: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                   1</a:t>
                      </a: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R$ 3.250,00</a:t>
                      </a: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R$ 3.250,00</a:t>
                      </a: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Valor Total 1</a:t>
                      </a:r>
                      <a:endParaRPr lang="pt-BR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100" b="0" strike="noStrike" spc="-1">
                        <a:solidFill>
                          <a:srgbClr val="000000"/>
                        </a:solidFill>
                        <a:latin typeface="Lora"/>
                        <a:ea typeface="Lora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TOTAL:</a:t>
                      </a: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R$ 12.650,00</a:t>
                      </a: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76;p17"/>
          <p:cNvSpPr/>
          <p:nvPr/>
        </p:nvSpPr>
        <p:spPr>
          <a:xfrm>
            <a:off x="1684440" y="1587960"/>
            <a:ext cx="2998800" cy="59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7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pt-BR" sz="1100" b="1" strike="noStrike" spc="-1">
                <a:solidFill>
                  <a:srgbClr val="000000"/>
                </a:solidFill>
                <a:latin typeface="Lora"/>
                <a:ea typeface="Lora"/>
              </a:rPr>
              <a:t>ADICIONAIS 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1" name="Google Shape;77;p17"/>
          <p:cNvGraphicFramePr/>
          <p:nvPr>
            <p:extLst>
              <p:ext uri="{D42A27DB-BD31-4B8C-83A1-F6EECF244321}">
                <p14:modId xmlns:p14="http://schemas.microsoft.com/office/powerpoint/2010/main" val="480307352"/>
              </p:ext>
            </p:extLst>
          </p:nvPr>
        </p:nvGraphicFramePr>
        <p:xfrm>
          <a:off x="1779480" y="2184120"/>
          <a:ext cx="5583960" cy="1958400"/>
        </p:xfrm>
        <a:graphic>
          <a:graphicData uri="http://schemas.openxmlformats.org/drawingml/2006/table">
            <a:tbl>
              <a:tblPr/>
              <a:tblGrid>
                <a:gridCol w="17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5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2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Lora Medium"/>
                        </a:rPr>
                        <a:t>Telão de led 6 x 4, com saia de Dj P3</a:t>
                      </a: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Lora Medium"/>
                          <a:ea typeface="Lora Medium"/>
                        </a:rPr>
                        <a:t>                      1</a:t>
                      </a: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Lora Medium"/>
                          <a:ea typeface="Lora Medium"/>
                        </a:rPr>
                        <a:t>A partir de R$ 9,700,00</a:t>
                      </a: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Rider exclusivo de banda, e                                                                                             </a:t>
                      </a: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                     1</a:t>
                      </a:r>
                    </a:p>
                  </a:txBody>
                  <a:tcPr marL="68400" marR="68400">
                    <a:lnL w="18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Valor de R$ 4.230,00</a:t>
                      </a:r>
                    </a:p>
                  </a:txBody>
                  <a:tcPr marL="68400" marR="68400">
                    <a:lnL w="18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320376"/>
                  </a:ext>
                </a:extLst>
              </a:tr>
              <a:tr h="479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Lora Medium"/>
                          <a:ea typeface="Lora Medium"/>
                        </a:rPr>
                        <a:t>Equipe operacional de produção do áudio visual</a:t>
                      </a: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>
                          <a:solidFill>
                            <a:srgbClr val="000000"/>
                          </a:solidFill>
                          <a:latin typeface="Lora Medium"/>
                          <a:ea typeface="Lora Medium"/>
                        </a:rPr>
                        <a:t>                      1</a:t>
                      </a:r>
                      <a:endParaRPr lang="pt-BR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Lora Medium"/>
                          <a:ea typeface="Lora Medium"/>
                        </a:rPr>
                        <a:t>Valor R$  2,550,00</a:t>
                      </a: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>
                          <a:solidFill>
                            <a:srgbClr val="000000"/>
                          </a:solidFill>
                          <a:latin typeface="Lora Medium"/>
                          <a:ea typeface="Lora Medium"/>
                        </a:rPr>
                        <a:t>Valor Total 1 + Total 2</a:t>
                      </a:r>
                      <a:endParaRPr lang="pt-BR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>
                          <a:solidFill>
                            <a:srgbClr val="000000"/>
                          </a:solidFill>
                          <a:latin typeface="Lora Medium"/>
                          <a:ea typeface="Lora Medium"/>
                        </a:rPr>
                        <a:t>                      1</a:t>
                      </a:r>
                      <a:endParaRPr lang="pt-BR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Lora Medium"/>
                          <a:ea typeface="Lora Medium"/>
                        </a:rPr>
                        <a:t>A partir de R$ 29.130,00</a:t>
                      </a: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82;p18"/>
          <p:cNvSpPr/>
          <p:nvPr/>
        </p:nvSpPr>
        <p:spPr>
          <a:xfrm>
            <a:off x="426960" y="952560"/>
            <a:ext cx="4531320" cy="348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7000"/>
              </a:lnSpc>
              <a:tabLst>
                <a:tab pos="0" algn="l"/>
              </a:tabLst>
            </a:pPr>
            <a:r>
              <a:rPr lang="pt-BR" sz="1100" b="1" strike="noStrike" spc="-1" dirty="0">
                <a:solidFill>
                  <a:schemeClr val="dk1"/>
                </a:solidFill>
                <a:latin typeface="Lora"/>
                <a:ea typeface="Lora"/>
              </a:rPr>
              <a:t>FORMA DE PAGAMENTO</a:t>
            </a:r>
            <a:endParaRPr lang="pt-BR" sz="11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7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pt-BR" sz="1100" b="0" strike="noStrike" spc="-1" dirty="0">
                <a:solidFill>
                  <a:schemeClr val="dk1"/>
                </a:solidFill>
                <a:latin typeface="Lora"/>
                <a:ea typeface="Lora"/>
              </a:rPr>
              <a:t>Sinal (50%): na assinatura do contrato.</a:t>
            </a:r>
            <a:br>
              <a:rPr sz="1100" dirty="0"/>
            </a:br>
            <a:r>
              <a:rPr lang="pt-BR" sz="1100" b="0" strike="noStrike" spc="-1" dirty="0">
                <a:solidFill>
                  <a:schemeClr val="dk1"/>
                </a:solidFill>
                <a:latin typeface="Lora"/>
                <a:ea typeface="Lora"/>
              </a:rPr>
              <a:t>Restante (50%): 25 dias antes do evento.</a:t>
            </a:r>
            <a:br>
              <a:rPr sz="1100" dirty="0"/>
            </a:br>
            <a:br>
              <a:rPr sz="1100" dirty="0"/>
            </a:br>
            <a:r>
              <a:rPr lang="pt-BR" sz="1100" b="0" strike="noStrike" spc="-1" dirty="0">
                <a:solidFill>
                  <a:schemeClr val="dk1"/>
                </a:solidFill>
                <a:latin typeface="Lora"/>
                <a:ea typeface="Lora"/>
              </a:rPr>
              <a:t>ID Cliente:</a:t>
            </a:r>
            <a:endParaRPr lang="pt-BR" sz="11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7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pt-BR" sz="1100" b="0" strike="noStrike" spc="-1" dirty="0">
                <a:solidFill>
                  <a:schemeClr val="dk1"/>
                </a:solidFill>
                <a:latin typeface="Lora"/>
                <a:ea typeface="Lora"/>
              </a:rPr>
              <a:t>Data: </a:t>
            </a:r>
            <a:r>
              <a:rPr lang="pt-BR" sz="1100" spc="-1" dirty="0">
                <a:solidFill>
                  <a:schemeClr val="dk1"/>
                </a:solidFill>
                <a:latin typeface="Lora"/>
                <a:ea typeface="Lora"/>
              </a:rPr>
              <a:t>21</a:t>
            </a:r>
            <a:r>
              <a:rPr lang="pt-BR" sz="1100" b="0" strike="noStrike" spc="-1" dirty="0">
                <a:solidFill>
                  <a:schemeClr val="dk1"/>
                </a:solidFill>
                <a:latin typeface="Lora"/>
                <a:ea typeface="Lora"/>
              </a:rPr>
              <a:t>/12/2024</a:t>
            </a:r>
            <a:br>
              <a:rPr sz="1100" dirty="0"/>
            </a:br>
            <a:endParaRPr lang="pt-BR" sz="11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7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pt-BR" sz="1100" b="0" strike="noStrike" spc="-1" dirty="0">
                <a:solidFill>
                  <a:schemeClr val="dk1"/>
                </a:solidFill>
                <a:latin typeface="Lora SemiBold"/>
                <a:ea typeface="Lora SemiBold"/>
              </a:rPr>
              <a:t>Dados para faturamento:    </a:t>
            </a:r>
            <a:br>
              <a:rPr sz="1100" dirty="0"/>
            </a:br>
            <a:r>
              <a:rPr lang="pt-BR" sz="1100" b="0" strike="noStrike" spc="-1" dirty="0">
                <a:solidFill>
                  <a:schemeClr val="dk1"/>
                </a:solidFill>
                <a:latin typeface="Lora"/>
                <a:ea typeface="Lora"/>
              </a:rPr>
              <a:t>Stone Instituição de Pagamentos</a:t>
            </a:r>
            <a:endParaRPr lang="pt-BR" sz="11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7000"/>
              </a:lnSpc>
              <a:spcBef>
                <a:spcPts val="799"/>
              </a:spcBef>
              <a:spcAft>
                <a:spcPts val="799"/>
              </a:spcAft>
              <a:tabLst>
                <a:tab pos="0" algn="l"/>
              </a:tabLst>
            </a:pPr>
            <a:r>
              <a:rPr lang="pt-BR" sz="1100" b="0" strike="noStrike" spc="-1" dirty="0">
                <a:solidFill>
                  <a:schemeClr val="dk1"/>
                </a:solidFill>
                <a:latin typeface="Lora"/>
                <a:ea typeface="Lora"/>
              </a:rPr>
              <a:t>Agência: 0001</a:t>
            </a:r>
            <a:br>
              <a:rPr sz="1100" dirty="0"/>
            </a:br>
            <a:r>
              <a:rPr lang="pt-BR" sz="1100" b="0" strike="noStrike" spc="-1" dirty="0">
                <a:solidFill>
                  <a:schemeClr val="dk1"/>
                </a:solidFill>
                <a:latin typeface="Lora"/>
                <a:ea typeface="Lora"/>
              </a:rPr>
              <a:t>Conta: 53650-8</a:t>
            </a:r>
            <a:br>
              <a:rPr sz="1100" dirty="0"/>
            </a:br>
            <a:r>
              <a:rPr lang="pt-BR" sz="1100" b="0" strike="noStrike" spc="-1" dirty="0">
                <a:solidFill>
                  <a:schemeClr val="dk1"/>
                </a:solidFill>
                <a:latin typeface="Lora"/>
                <a:ea typeface="Lora"/>
              </a:rPr>
              <a:t>CNPJ: 36.147.661/0001-91</a:t>
            </a:r>
            <a:br>
              <a:rPr sz="1100" dirty="0"/>
            </a:br>
            <a:r>
              <a:rPr lang="pt-BR" sz="1100" b="0" strike="noStrike" spc="-1" dirty="0">
                <a:solidFill>
                  <a:schemeClr val="dk1"/>
                </a:solidFill>
                <a:latin typeface="Lora"/>
                <a:ea typeface="Lora"/>
              </a:rPr>
              <a:t>Titular: Guga </a:t>
            </a:r>
            <a:r>
              <a:rPr lang="pt-BR" sz="1100" b="0" strike="noStrike" spc="-1" dirty="0" err="1">
                <a:solidFill>
                  <a:schemeClr val="dk1"/>
                </a:solidFill>
                <a:latin typeface="Lora"/>
                <a:ea typeface="Lora"/>
              </a:rPr>
              <a:t>Wigert</a:t>
            </a:r>
            <a:r>
              <a:rPr lang="pt-BR" sz="1100" b="0" strike="noStrike" spc="-1" dirty="0">
                <a:solidFill>
                  <a:schemeClr val="dk1"/>
                </a:solidFill>
                <a:latin typeface="Lora"/>
                <a:ea typeface="Lora"/>
              </a:rPr>
              <a:t> DJ e Produção de Eventos</a:t>
            </a:r>
            <a:endParaRPr lang="pt-BR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" name="Tabela 52"/>
          <p:cNvGraphicFramePr/>
          <p:nvPr/>
        </p:nvGraphicFramePr>
        <p:xfrm>
          <a:off x="457200" y="1203480"/>
          <a:ext cx="8229240" cy="2148840"/>
        </p:xfrm>
        <a:graphic>
          <a:graphicData uri="http://schemas.openxmlformats.org/drawingml/2006/table">
            <a:tbl>
              <a:tblPr/>
              <a:tblGrid>
                <a:gridCol w="411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6320">
                <a:tc>
                  <a:txBody>
                    <a:bodyPr/>
                    <a:lstStyle/>
                    <a:p>
                      <a:pPr marL="2160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Equipamento de Som</a:t>
                      </a:r>
                    </a:p>
                    <a:p>
                      <a:pPr marL="2160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pt-BR" sz="10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pos="0" algn="l"/>
                        </a:tabLst>
                      </a:pPr>
                      <a:r>
                        <a:rPr lang="pt-BR" sz="12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8 Line Array LS áudio Easyline E-6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pos="0" algn="l"/>
                        </a:tabLst>
                      </a:pPr>
                      <a:r>
                        <a:rPr lang="pt-BR" sz="12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4 Subs LS áudio 18” E-118p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pos="0" algn="l"/>
                        </a:tabLst>
                      </a:pPr>
                      <a:r>
                        <a:rPr lang="pt-BR" sz="12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1 Console Soundcarft Ui24r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pos="0" algn="l"/>
                        </a:tabLst>
                      </a:pPr>
                      <a:r>
                        <a:rPr lang="pt-BR" sz="12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1 Processador DB Séries 3x6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pos="0" algn="l"/>
                        </a:tabLst>
                      </a:pPr>
                      <a:r>
                        <a:rPr lang="pt-BR" sz="12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1 Amplificador DB Séries LD 2k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pos="0" algn="l"/>
                        </a:tabLst>
                      </a:pPr>
                      <a:r>
                        <a:rPr lang="pt-BR" sz="12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1 Amplificador DB Séries LD 6000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pos="0" algn="l"/>
                        </a:tabLst>
                      </a:pPr>
                      <a:r>
                        <a:rPr lang="pt-BR" sz="12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1 Microfone sem fio Sennheiser EW 100 G4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pos="0" algn="l"/>
                        </a:tabLst>
                      </a:pPr>
                      <a:r>
                        <a:rPr lang="pt-BR" sz="12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1 Controladora Pionner Dj Xdj RX2</a:t>
                      </a:r>
                    </a:p>
                    <a:p>
                      <a:pPr marL="2160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pt-BR" sz="10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5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  Equipamento de Luz</a:t>
                      </a: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pt-BR" sz="10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pos="0" algn="l"/>
                        </a:tabLst>
                      </a:pPr>
                      <a:r>
                        <a:rPr lang="pt-BR" sz="12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12 Moving head bean 9R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pos="0" algn="l"/>
                        </a:tabLst>
                      </a:pPr>
                      <a:r>
                        <a:rPr lang="pt-BR" sz="12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20 par 64 led rgbw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pos="0" algn="l"/>
                        </a:tabLst>
                      </a:pPr>
                      <a:r>
                        <a:rPr lang="pt-BR" sz="12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2 Par led cob 200w quente e frio 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pos="0" algn="l"/>
                        </a:tabLst>
                      </a:pPr>
                      <a:r>
                        <a:rPr lang="pt-BR" sz="12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1 Máquina de fumaça HB light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pos="0" algn="l"/>
                        </a:tabLst>
                      </a:pPr>
                      <a:r>
                        <a:rPr lang="pt-BR" sz="12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10 Ribalta 18x12 watts rgbw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pos="0" algn="l"/>
                        </a:tabLst>
                      </a:pPr>
                      <a:r>
                        <a:rPr lang="pt-BR" sz="12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2 Strobo 1000 watts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pos="0" algn="l"/>
                        </a:tabLst>
                      </a:pPr>
                      <a:r>
                        <a:rPr lang="pt-BR" sz="12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1 Mesa DMX 1024 Thunderlight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273</TotalTime>
  <Words>301</Words>
  <Application>Microsoft Office PowerPoint</Application>
  <PresentationFormat>Apresentação na tela (16:9)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12</vt:i4>
      </vt:variant>
      <vt:variant>
        <vt:lpstr>Títulos de slides</vt:lpstr>
      </vt:variant>
      <vt:variant>
        <vt:i4>7</vt:i4>
      </vt:variant>
    </vt:vector>
  </HeadingPairs>
  <TitlesOfParts>
    <vt:vector size="26" baseType="lpstr">
      <vt:lpstr>Arial</vt:lpstr>
      <vt:lpstr>Lora</vt:lpstr>
      <vt:lpstr>Lora Medium</vt:lpstr>
      <vt:lpstr>Lora SemiBold</vt:lpstr>
      <vt:lpstr>Symbol</vt:lpstr>
      <vt:lpstr>Times New Roman</vt:lpstr>
      <vt:lpstr>Wingdings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ExC Rio Operacional</dc:creator>
  <dc:description/>
  <cp:lastModifiedBy>ExC Rio Operacional</cp:lastModifiedBy>
  <cp:revision>25</cp:revision>
  <dcterms:modified xsi:type="dcterms:W3CDTF">2024-10-31T20:35:07Z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Apresentação na tela (16:9)</vt:lpwstr>
  </property>
  <property fmtid="{D5CDD505-2E9C-101B-9397-08002B2CF9AE}" pid="4" name="Slides">
    <vt:i4>6</vt:i4>
  </property>
</Properties>
</file>