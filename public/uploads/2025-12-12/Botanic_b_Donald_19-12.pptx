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10.xml"/>
  <Override ContentType="application/vnd.openxmlformats-officedocument.theme+xml" PartName="/ppt/theme/theme8.xml"/>
  <Override ContentType="application/vnd.openxmlformats-officedocument.theme+xml" PartName="/ppt/theme/theme1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  <p:sldMasterId id="2147483662" r:id="rId6"/>
    <p:sldMasterId id="2147483663" r:id="rId7"/>
    <p:sldMasterId id="2147483664" r:id="rId8"/>
    <p:sldMasterId id="2147483665" r:id="rId9"/>
    <p:sldMasterId id="2147483666" r:id="rId10"/>
    <p:sldMasterId id="2147483667" r:id="rId11"/>
    <p:sldMasterId id="2147483668" r:id="rId12"/>
    <p:sldMasterId id="2147483669" r:id="rId13"/>
    <p:sldMasterId id="2147483670" r:id="rId14"/>
    <p:sldMasterId id="2147483671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</p:sldIdLst>
  <p:sldSz cy="51435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300E116B-6B34-4785-ABC1-6E2E67DBD1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4.xml"/><Relationship Id="rId11" Type="http://schemas.openxmlformats.org/officeDocument/2006/relationships/slideMaster" Target="slideMasters/slideMaster8.xml"/><Relationship Id="rId22" Type="http://schemas.openxmlformats.org/officeDocument/2006/relationships/slide" Target="slides/slide6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5.xml"/><Relationship Id="rId13" Type="http://schemas.openxmlformats.org/officeDocument/2006/relationships/slideMaster" Target="slideMasters/slideMaster10.xml"/><Relationship Id="rId12" Type="http://schemas.openxmlformats.org/officeDocument/2006/relationships/slideMaster" Target="slideMasters/slideMaster9.xml"/><Relationship Id="rId23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3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2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Obj">
  <p:cSld name="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44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 type="blank">
  <p:cSld name="BLANK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2"/>
          </p:nvPr>
        </p:nvSpPr>
        <p:spPr>
          <a:xfrm>
            <a:off x="4673880" y="1203480"/>
            <a:ext cx="4015080" cy="298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19400" cy="205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/>
          <p:nvPr/>
        </p:nvSpPr>
        <p:spPr>
          <a:xfrm>
            <a:off x="4572000" y="0"/>
            <a:ext cx="4570920" cy="514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840" y="132480"/>
            <a:ext cx="8840880" cy="48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756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5100" tIns="105100" rIns="105100" bIns="1051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18440" y="0"/>
            <a:ext cx="9261360" cy="520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2920" cy="514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/>
        </p:nvSpPr>
        <p:spPr>
          <a:xfrm>
            <a:off x="375840" y="1587600"/>
            <a:ext cx="4811040" cy="295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t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PROPOSTA DE LOCAÇÃO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Data o Evento: </a:t>
            </a:r>
            <a:r>
              <a:rPr lang="pt-BR" sz="2100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 12ou19</a:t>
            </a: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/12/2025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Local do Evento: EXC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2100" b="0" i="0" u="none" strike="noStrike" cap="none" dirty="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Nº de pessoas: 400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1598"/>
              </a:spcBef>
              <a:spcAft>
                <a:spcPts val="0"/>
              </a:spcAft>
              <a:buNone/>
            </a:pPr>
            <a:r>
              <a:rPr lang="pt-BR" sz="2100" dirty="0"/>
              <a:t>Evento Corporativo BBCON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28"/>
          <p:cNvGraphicFramePr/>
          <p:nvPr>
            <p:extLst>
              <p:ext uri="{D42A27DB-BD31-4B8C-83A1-F6EECF244321}">
                <p14:modId xmlns:p14="http://schemas.microsoft.com/office/powerpoint/2010/main" val="2641551573"/>
              </p:ext>
            </p:extLst>
          </p:nvPr>
        </p:nvGraphicFramePr>
        <p:xfrm>
          <a:off x="1390320" y="971640"/>
          <a:ext cx="6340350" cy="330700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84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DESCRIÇÃO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QUANTIDADE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UNITÁRIO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Sonorização ao Vivo para palco e Banda ou DJ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R$ 14.000,00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R$ 14.000,00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Iluminação para Rider  artístico, e palco e pista de dança. 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R$ 7.000,00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R$ 7.000,00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Palco com  até 7 x 4 acabamento em carpete preto com 40cm 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                 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R$ 3.000,00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R$ 3.000,00</a:t>
                      </a: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u="none" strike="noStrike" cap="non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Valor Total 1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strike="noStrike">
                        <a:solidFill>
                          <a:srgbClr val="000000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TOTAL: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R$ 24.000,00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1714176" y="866847"/>
            <a:ext cx="2998800" cy="595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ADICIONAIS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2" name="Google Shape;112;p29"/>
          <p:cNvGraphicFramePr/>
          <p:nvPr>
            <p:extLst>
              <p:ext uri="{D42A27DB-BD31-4B8C-83A1-F6EECF244321}">
                <p14:modId xmlns:p14="http://schemas.microsoft.com/office/powerpoint/2010/main" val="2366135490"/>
              </p:ext>
            </p:extLst>
          </p:nvPr>
        </p:nvGraphicFramePr>
        <p:xfrm>
          <a:off x="1330713" y="1583473"/>
          <a:ext cx="6062453" cy="1959951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150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449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Equipe operacional de produção do áudio visual e montagem.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R$  3,000,00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7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Valor Total 1 + Total 2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                      1</a:t>
                      </a:r>
                      <a:endParaRPr sz="1100" b="0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Lora Medium"/>
                          <a:ea typeface="Lora Medium"/>
                          <a:cs typeface="Lora Medium"/>
                          <a:sym typeface="Lora Medium"/>
                        </a:rPr>
                        <a:t>A partir de R$ 24.000,00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72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Desconto de 15% 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caso de fechamento em 15 dias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0" strike="noStrik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Valor Total R</a:t>
                      </a:r>
                      <a:r>
                        <a:rPr lang="pt-BR" sz="1100" b="0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$ 19.200,00</a:t>
                      </a:r>
                      <a:endParaRPr sz="1100" b="0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400" marR="68400" marT="45725" marB="45725">
                    <a:lnL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8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8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31654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/>
        </p:nvSpPr>
        <p:spPr>
          <a:xfrm>
            <a:off x="426960" y="952560"/>
            <a:ext cx="4531320" cy="3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91425" rIns="90000" bIns="91425" anchor="ctr" anchorCtr="0">
            <a:noAutofit/>
          </a:bodyPr>
          <a:lstStyle/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FORMA DE PAGAMENTO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Sinal (50%): na assinatura do contrato.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Restante (50%): 25 dias antes do evento.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ID Cliente: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Data: </a:t>
            </a:r>
            <a:r>
              <a:rPr lang="pt-BR" sz="1100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19</a:t>
            </a: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/12/2025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 SemiBold"/>
                <a:ea typeface="Lora SemiBold"/>
                <a:cs typeface="Lora SemiBold"/>
                <a:sym typeface="Lora SemiBold"/>
              </a:rPr>
              <a:t>Dados para faturamento:    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Stone Instituição de Pagamentos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Agência: 0001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Conta: 53650-8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CNPJ: 36.147.661/0001-91</a:t>
            </a:r>
            <a:br>
              <a:rPr lang="pt-B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Titular: Guga </a:t>
            </a:r>
            <a:r>
              <a:rPr lang="pt-BR" sz="1100" b="0" i="0" u="none" strike="noStrike" cap="none" dirty="0" err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Wigert</a:t>
            </a:r>
            <a:r>
              <a:rPr lang="pt-BR" sz="1100" b="0" i="0" u="none" strike="noStrike" cap="none" dirty="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DJ e Produção de Eventos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31"/>
          <p:cNvGraphicFramePr/>
          <p:nvPr/>
        </p:nvGraphicFramePr>
        <p:xfrm>
          <a:off x="457200" y="555780"/>
          <a:ext cx="8229250" cy="3947170"/>
        </p:xfrm>
        <a:graphic>
          <a:graphicData uri="http://schemas.openxmlformats.org/drawingml/2006/table">
            <a:tbl>
              <a:tblPr>
                <a:noFill/>
                <a:tableStyleId>{300E116B-6B34-4785-ABC1-6E2E67DBD128}</a:tableStyleId>
              </a:tblPr>
              <a:tblGrid>
                <a:gridCol w="41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0475">
                <a:tc>
                  <a:txBody>
                    <a:bodyPr/>
                    <a:lstStyle/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Som </a:t>
                      </a:r>
                      <a:r>
                        <a:rPr lang="pt-BR" sz="1600"/>
                        <a:t>+ rider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Line Array </a:t>
                      </a:r>
                      <a:r>
                        <a:rPr lang="pt-BR" sz="1200"/>
                        <a:t>DB acustica  AL-1061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Subs</a:t>
                      </a:r>
                      <a:r>
                        <a:rPr lang="pt-BR" sz="1200"/>
                        <a:t> DB acústica 18” AES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Console </a:t>
                      </a:r>
                      <a:r>
                        <a:rPr lang="pt-BR" sz="1200"/>
                        <a:t>Behringer X32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Processador DB Séries 3x6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2k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Amplificador DB Séries LD 6000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Caixas para monitor D.A.S. Vantec 12A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DJ Boot The Box PRo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3 sistemas In Ear Xvive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Power play behringer 8 vias 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Direct box passiva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Corpo de Bateria Tama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kit de bateria Sennheiser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10 Pedestais de Microfone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Baixo Gk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1 Amplificador de Guitarra Fender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2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Microfone sem fio Sennheiser EW 100 G4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Controladora Pionner Dj Xdj RX2</a:t>
                      </a:r>
                      <a:endParaRPr sz="1200"/>
                    </a:p>
                    <a:p>
                      <a:pPr marL="2160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5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t-BR" sz="18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pt-BR" sz="16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Equipamento de Luz</a:t>
                      </a:r>
                      <a:endParaRPr sz="120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Moving head bean 9R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 par 64 led rgbw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Par led cob 200w quente e frio 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Máquina de fumaça HB light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5</a:t>
                      </a: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Ribalta 18x12 watts rgbw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 b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Strobo 1000 watts</a:t>
                      </a:r>
                      <a:endParaRPr sz="12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2 mini brut 4 lâmpadas 200w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Estrutura Box truss com sleeve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Forração em carpete preto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Cinta para elevação de carga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4 Talha manual com corrente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pt-BR" sz="1200"/>
                        <a:t>1 Mesa de Luz MA2 Command + 2 telas Touch</a:t>
                      </a:r>
                      <a:endParaRPr sz="1200"/>
                    </a:p>
                    <a:p>
                      <a:pPr marL="216000" marR="0" lvl="0" indent="-25791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Praticável telescópico</a:t>
                      </a:r>
                      <a:endParaRPr sz="1200"/>
                    </a:p>
                    <a:p>
                      <a:pPr marL="216000" marR="0" lvl="0" indent="-257909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pt-BR" sz="1200"/>
                        <a:t>Pés para praticável</a:t>
                      </a:r>
                      <a:endParaRPr sz="1200"/>
                    </a:p>
                  </a:txBody>
                  <a:tcPr marL="36000" marR="36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